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514"/>
    <p:restoredTop sz="94610"/>
  </p:normalViewPr>
  <p:slideViewPr>
    <p:cSldViewPr snapToGrid="0" snapToObjects="1">
      <p:cViewPr varScale="1">
        <p:scale>
          <a:sx n="157" d="100"/>
          <a:sy n="157" d="100"/>
        </p:scale>
        <p:origin x="392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89078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0FE3F-DADB-9894-B38E-C926FACAE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37F1EA-B423-6B3A-A51A-0447F02955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7B703F-7261-9CF2-BE86-BBBA9A2007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B2A549-F08D-AD9E-9403-CAF95EC014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4024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5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A8A0"/>
          </a:solidFill>
          <a:ln w="12700">
            <a:solidFill>
              <a:srgbClr val="00A8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0A8A0"/>
          </a:solidFill>
          <a:ln w="12700">
            <a:solidFill>
              <a:srgbClr val="00A8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b="1" kern="0" spc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N26</a:t>
            </a:r>
            <a:endParaRPr lang="en-US" sz="8000" dirty="0"/>
          </a:p>
        </p:txBody>
      </p:sp>
      <p:sp>
        <p:nvSpPr>
          <p:cNvPr id="5" name="Shape 3"/>
          <p:cNvSpPr/>
          <p:nvPr/>
        </p:nvSpPr>
        <p:spPr>
          <a:xfrm>
            <a:off x="3474720" y="1920240"/>
            <a:ext cx="2194560" cy="45720"/>
          </a:xfrm>
          <a:prstGeom prst="rect">
            <a:avLst/>
          </a:prstGeom>
          <a:solidFill>
            <a:srgbClr val="00A8A0"/>
          </a:solidFill>
          <a:ln w="12700">
            <a:solidFill>
              <a:srgbClr val="00A8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AA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1 Finance  ·  Gestion de bases de données </a:t>
            </a:r>
            <a:r>
              <a:rPr lang="en-US" sz="1400" dirty="0" err="1">
                <a:solidFill>
                  <a:srgbClr val="6AA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financières</a:t>
            </a:r>
            <a:r>
              <a:rPr lang="en-US" sz="1400" dirty="0">
                <a:solidFill>
                  <a:srgbClr val="6AA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 Arthur Le Maire – Thomas </a:t>
            </a:r>
            <a:r>
              <a:rPr lang="en-US" sz="1400" dirty="0" err="1">
                <a:solidFill>
                  <a:srgbClr val="6AA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Philippotin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023360" y="4663440"/>
            <a:ext cx="109728" cy="109728"/>
          </a:xfrm>
          <a:prstGeom prst="ellipse">
            <a:avLst/>
          </a:prstGeom>
          <a:solidFill>
            <a:srgbClr val="00A8A0"/>
          </a:solidFill>
          <a:ln w="12700">
            <a:solidFill>
              <a:srgbClr val="00A8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4251960" y="4663440"/>
            <a:ext cx="109728" cy="109728"/>
          </a:xfrm>
          <a:prstGeom prst="ellipse">
            <a:avLst/>
          </a:prstGeom>
          <a:solidFill>
            <a:srgbClr val="1E4A47"/>
          </a:solidFill>
          <a:ln w="12700">
            <a:solidFill>
              <a:srgbClr val="1E4A4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4480560" y="4663440"/>
            <a:ext cx="109728" cy="109728"/>
          </a:xfrm>
          <a:prstGeom prst="ellipse">
            <a:avLst/>
          </a:prstGeom>
          <a:solidFill>
            <a:srgbClr val="1E4A47"/>
          </a:solidFill>
          <a:ln w="12700">
            <a:solidFill>
              <a:srgbClr val="1E4A4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4709160" y="4663440"/>
            <a:ext cx="109728" cy="109728"/>
          </a:xfrm>
          <a:prstGeom prst="ellipse">
            <a:avLst/>
          </a:prstGeom>
          <a:solidFill>
            <a:srgbClr val="1E4A47"/>
          </a:solidFill>
          <a:ln w="12700">
            <a:solidFill>
              <a:srgbClr val="1E4A4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4937760" y="4663440"/>
            <a:ext cx="109728" cy="109728"/>
          </a:xfrm>
          <a:prstGeom prst="ellipse">
            <a:avLst/>
          </a:prstGeom>
          <a:solidFill>
            <a:srgbClr val="1E4A47"/>
          </a:solidFill>
          <a:ln w="12700">
            <a:solidFill>
              <a:srgbClr val="1E4A4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6" name="Picture 4" descr="Partner | ISEC">
            <a:extLst>
              <a:ext uri="{FF2B5EF4-FFF2-40B4-BE49-F238E27FC236}">
                <a16:creationId xmlns:a16="http://schemas.microsoft.com/office/drawing/2014/main" id="{959875A4-28E9-D850-37C8-6ADB6A1FE2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1114" y="-246159"/>
            <a:ext cx="1982886" cy="12202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35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A8A0"/>
          </a:solidFill>
          <a:ln w="12700">
            <a:solidFill>
              <a:srgbClr val="00A8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0A8A0"/>
          </a:solidFill>
          <a:ln w="12700">
            <a:solidFill>
              <a:srgbClr val="00A8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Overview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11480" y="896112"/>
            <a:ext cx="2606040" cy="1188720"/>
          </a:xfrm>
          <a:prstGeom prst="rect">
            <a:avLst/>
          </a:prstGeom>
          <a:solidFill>
            <a:srgbClr val="0F2828"/>
          </a:solidFill>
          <a:ln w="12700">
            <a:solidFill>
              <a:srgbClr val="1E4A47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411480" y="896112"/>
            <a:ext cx="2606040" cy="54864"/>
          </a:xfrm>
          <a:prstGeom prst="rect">
            <a:avLst/>
          </a:prstGeom>
          <a:solidFill>
            <a:srgbClr val="00A8A0"/>
          </a:solidFill>
          <a:ln w="12700">
            <a:solidFill>
              <a:srgbClr val="00A8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411480" y="960120"/>
            <a:ext cx="2606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0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411480" y="1600200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AA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 in Berlin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896112"/>
            <a:ext cx="2606040" cy="1188720"/>
          </a:xfrm>
          <a:prstGeom prst="rect">
            <a:avLst/>
          </a:prstGeom>
          <a:solidFill>
            <a:srgbClr val="0F2828"/>
          </a:solidFill>
          <a:ln w="12700">
            <a:solidFill>
              <a:srgbClr val="1E4A47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3246120" y="896112"/>
            <a:ext cx="2606040" cy="54864"/>
          </a:xfrm>
          <a:prstGeom prst="rect">
            <a:avLst/>
          </a:prstGeom>
          <a:solidFill>
            <a:srgbClr val="00A8A0"/>
          </a:solidFill>
          <a:ln w="12700">
            <a:solidFill>
              <a:srgbClr val="00A8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3246120" y="960120"/>
            <a:ext cx="2606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0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8M+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246120" y="1600200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AA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80760" y="896112"/>
            <a:ext cx="2606040" cy="1188720"/>
          </a:xfrm>
          <a:prstGeom prst="rect">
            <a:avLst/>
          </a:prstGeom>
          <a:solidFill>
            <a:srgbClr val="0F2828"/>
          </a:solidFill>
          <a:ln w="12700">
            <a:solidFill>
              <a:srgbClr val="1E4A47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6080760" y="896112"/>
            <a:ext cx="2606040" cy="54864"/>
          </a:xfrm>
          <a:prstGeom prst="rect">
            <a:avLst/>
          </a:prstGeom>
          <a:solidFill>
            <a:srgbClr val="00A8A0"/>
          </a:solidFill>
          <a:ln w="12700">
            <a:solidFill>
              <a:srgbClr val="00A8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6080760" y="960120"/>
            <a:ext cx="2606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0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6080760" y="1600200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AA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Markets in Europe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1440" y="2395728"/>
            <a:ext cx="64008" cy="347472"/>
          </a:xfrm>
          <a:prstGeom prst="rect">
            <a:avLst/>
          </a:prstGeom>
          <a:solidFill>
            <a:srgbClr val="00A8A0"/>
          </a:solidFill>
          <a:ln w="12700">
            <a:solidFill>
              <a:srgbClr val="00A8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274320" y="2377440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0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banking license issued by the European Central Bank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1440" y="3008376"/>
            <a:ext cx="64008" cy="347472"/>
          </a:xfrm>
          <a:prstGeom prst="rect">
            <a:avLst/>
          </a:prstGeom>
          <a:solidFill>
            <a:srgbClr val="00A8A0"/>
          </a:solidFill>
          <a:ln w="12700">
            <a:solidFill>
              <a:srgbClr val="00A8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274320" y="2990088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0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Evolved from a simple payment app into a full financial super-app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91440" y="3621024"/>
            <a:ext cx="64008" cy="347472"/>
          </a:xfrm>
          <a:prstGeom prst="rect">
            <a:avLst/>
          </a:prstGeom>
          <a:solidFill>
            <a:srgbClr val="00A8A0"/>
          </a:solidFill>
          <a:ln w="12700">
            <a:solidFill>
              <a:srgbClr val="00A8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274320" y="3602736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0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values: Simplicity, Transparency and Innovation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91440" y="4233672"/>
            <a:ext cx="64008" cy="347472"/>
          </a:xfrm>
          <a:prstGeom prst="rect">
            <a:avLst/>
          </a:prstGeom>
          <a:solidFill>
            <a:srgbClr val="00A8A0"/>
          </a:solidFill>
          <a:ln w="12700">
            <a:solidFill>
              <a:srgbClr val="00A8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274320" y="4215384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0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 model: customers onboarded in minutes, fully online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35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A8A0"/>
          </a:solidFill>
          <a:ln w="12700">
            <a:solidFill>
              <a:srgbClr val="00A8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0A8A0"/>
          </a:solidFill>
          <a:ln w="12700">
            <a:solidFill>
              <a:srgbClr val="00A8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N26?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3977640" cy="3794760"/>
          </a:xfrm>
          <a:prstGeom prst="rect">
            <a:avLst/>
          </a:prstGeom>
          <a:solidFill>
            <a:srgbClr val="0F2828"/>
          </a:solidFill>
          <a:ln w="12700">
            <a:solidFill>
              <a:srgbClr val="1E4A47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320040" y="914400"/>
            <a:ext cx="3977640" cy="429768"/>
          </a:xfrm>
          <a:prstGeom prst="rect">
            <a:avLst/>
          </a:prstGeom>
          <a:solidFill>
            <a:srgbClr val="E05555"/>
          </a:solidFill>
          <a:ln w="12700">
            <a:solidFill>
              <a:srgbClr val="E0555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320040" y="914400"/>
            <a:ext cx="39776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481328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0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Onboards thousands of customers per day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057400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0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physical branch, no face-to-face check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2633472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0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automated = attractive for criminals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3209544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0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Sanctioned by BaFin multiple times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846320" y="914400"/>
            <a:ext cx="3977640" cy="3794760"/>
          </a:xfrm>
          <a:prstGeom prst="rect">
            <a:avLst/>
          </a:prstGeom>
          <a:solidFill>
            <a:srgbClr val="0F2828"/>
          </a:solidFill>
          <a:ln w="12700">
            <a:solidFill>
              <a:srgbClr val="1E4A47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4846320" y="914400"/>
            <a:ext cx="3977640" cy="42976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4846320" y="914400"/>
            <a:ext cx="39776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BAFIN SANCTIONS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983480" y="1481328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0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Fraudulent account openings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83480" y="2057400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0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Insufficient KYC verification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983480" y="2633472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0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Delays in reporting suspicious activity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983480" y="3209544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0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Weaknesses in AML controls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35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A8A0"/>
          </a:solidFill>
          <a:ln w="12700">
            <a:solidFill>
              <a:srgbClr val="00A8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0A8A0"/>
          </a:solidFill>
          <a:ln w="12700">
            <a:solidFill>
              <a:srgbClr val="00A8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Hybrid Architecture?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A8DE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detection is multi-dimensional — no single database can cover all of it.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0040" y="1417320"/>
            <a:ext cx="1965960" cy="3200400"/>
          </a:xfrm>
          <a:prstGeom prst="rect">
            <a:avLst/>
          </a:prstGeom>
          <a:solidFill>
            <a:srgbClr val="0F2828"/>
          </a:solidFill>
          <a:ln w="12700">
            <a:solidFill>
              <a:srgbClr val="1E4A47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320040" y="1417320"/>
            <a:ext cx="1965960" cy="54864"/>
          </a:xfrm>
          <a:prstGeom prst="rect">
            <a:avLst/>
          </a:prstGeom>
          <a:solidFill>
            <a:srgbClr val="00A8A0"/>
          </a:solidFill>
          <a:ln w="12700">
            <a:solidFill>
              <a:srgbClr val="00A8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320040" y="2090287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0040" y="2593207"/>
            <a:ext cx="1965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AA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integrity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AA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ACID compliance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77240" y="3644767"/>
            <a:ext cx="1051560" cy="347472"/>
          </a:xfrm>
          <a:prstGeom prst="rect">
            <a:avLst/>
          </a:prstGeom>
          <a:solidFill>
            <a:srgbClr val="00A8A0"/>
          </a:solidFill>
          <a:ln w="12700">
            <a:solidFill>
              <a:srgbClr val="00A8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777240" y="3644767"/>
            <a:ext cx="1051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450592" y="1417320"/>
            <a:ext cx="1965960" cy="3200400"/>
          </a:xfrm>
          <a:prstGeom prst="rect">
            <a:avLst/>
          </a:prstGeom>
          <a:solidFill>
            <a:srgbClr val="0F2828"/>
          </a:solidFill>
          <a:ln w="12700">
            <a:solidFill>
              <a:srgbClr val="1E4A47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2450592" y="1417320"/>
            <a:ext cx="1965960" cy="54864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2450592" y="2090287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450592" y="2593207"/>
            <a:ext cx="1965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AA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Networks, mules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AA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circular flows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907792" y="3644767"/>
            <a:ext cx="1051560" cy="347472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2907792" y="3644767"/>
            <a:ext cx="1051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81144" y="1417320"/>
            <a:ext cx="1965960" cy="3200400"/>
          </a:xfrm>
          <a:prstGeom prst="rect">
            <a:avLst/>
          </a:prstGeom>
          <a:solidFill>
            <a:srgbClr val="0F2828"/>
          </a:solidFill>
          <a:ln w="12700">
            <a:solidFill>
              <a:srgbClr val="1E4A47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4581144" y="1417320"/>
            <a:ext cx="1965960" cy="54864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4581144" y="2090287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581144" y="2593207"/>
            <a:ext cx="1965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AA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 anomalies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AA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risk scores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038344" y="3644767"/>
            <a:ext cx="1051560" cy="347472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5038344" y="3644767"/>
            <a:ext cx="1051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Time-Series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711696" y="1417320"/>
            <a:ext cx="1965960" cy="3200400"/>
          </a:xfrm>
          <a:prstGeom prst="rect">
            <a:avLst/>
          </a:prstGeom>
          <a:solidFill>
            <a:srgbClr val="0F2828"/>
          </a:solidFill>
          <a:ln w="12700">
            <a:solidFill>
              <a:srgbClr val="1E4A47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8" name="Shape 26"/>
          <p:cNvSpPr/>
          <p:nvPr/>
        </p:nvSpPr>
        <p:spPr>
          <a:xfrm>
            <a:off x="6711696" y="1417320"/>
            <a:ext cx="196596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6711696" y="2090287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711696" y="2593207"/>
            <a:ext cx="1965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AA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 documents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AA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verification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168896" y="3644767"/>
            <a:ext cx="1051560" cy="34747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7168896" y="3644767"/>
            <a:ext cx="1051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35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A8A0"/>
          </a:solidFill>
          <a:ln w="12700">
            <a:solidFill>
              <a:srgbClr val="00A8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0A8A0"/>
          </a:solidFill>
          <a:ln w="12700">
            <a:solidFill>
              <a:srgbClr val="00A8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4-Database Architecture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20040" y="932688"/>
            <a:ext cx="8503920" cy="868680"/>
          </a:xfrm>
          <a:prstGeom prst="rect">
            <a:avLst/>
          </a:prstGeom>
          <a:solidFill>
            <a:srgbClr val="0F2828"/>
          </a:solidFill>
          <a:ln w="12700">
            <a:solidFill>
              <a:srgbClr val="1E4A47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320040" y="932688"/>
            <a:ext cx="64008" cy="868680"/>
          </a:xfrm>
          <a:prstGeom prst="rect">
            <a:avLst/>
          </a:prstGeom>
          <a:solidFill>
            <a:srgbClr val="00A8A0"/>
          </a:solidFill>
          <a:ln w="12700">
            <a:solidFill>
              <a:srgbClr val="00A8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457200" y="996696"/>
            <a:ext cx="594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97280" y="97840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Database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97280" y="138988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840480" y="111556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AA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 compliance · Financial integrity · Regulatory reporting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0040" y="1938528"/>
            <a:ext cx="8503920" cy="868680"/>
          </a:xfrm>
          <a:prstGeom prst="rect">
            <a:avLst/>
          </a:prstGeom>
          <a:solidFill>
            <a:srgbClr val="0F2828"/>
          </a:solidFill>
          <a:ln w="12700">
            <a:solidFill>
              <a:srgbClr val="1E4A47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320040" y="1938528"/>
            <a:ext cx="64008" cy="868680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457200" y="2002536"/>
            <a:ext cx="594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097280" y="19842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Database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97280" y="239572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Network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840480" y="212140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AA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mule networks · Circular flows · Hidden account links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20040" y="2944368"/>
            <a:ext cx="8503920" cy="868680"/>
          </a:xfrm>
          <a:prstGeom prst="rect">
            <a:avLst/>
          </a:prstGeom>
          <a:solidFill>
            <a:srgbClr val="0F2828"/>
          </a:solidFill>
          <a:ln w="12700">
            <a:solidFill>
              <a:srgbClr val="1E4A47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320040" y="2944368"/>
            <a:ext cx="64008" cy="86868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457200" y="3008376"/>
            <a:ext cx="594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097280" y="299008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Time-Series DB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97280" y="340156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Behaviour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840480" y="312724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AA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velocity · Real-time anomaly detection · Risk scores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20040" y="3950208"/>
            <a:ext cx="8503920" cy="868680"/>
          </a:xfrm>
          <a:prstGeom prst="rect">
            <a:avLst/>
          </a:prstGeom>
          <a:solidFill>
            <a:srgbClr val="0F2828"/>
          </a:solidFill>
          <a:ln w="12700">
            <a:solidFill>
              <a:srgbClr val="1E4A47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4" name="Shape 22"/>
          <p:cNvSpPr/>
          <p:nvPr/>
        </p:nvSpPr>
        <p:spPr>
          <a:xfrm>
            <a:off x="320040" y="3950208"/>
            <a:ext cx="64008" cy="8686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457200" y="4014216"/>
            <a:ext cx="594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097280" y="399592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DB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097280" y="44074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KYC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840480" y="413308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AA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KYC schema · Identity docs · Duplicate passport detection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35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A8A0"/>
          </a:solidFill>
          <a:ln w="12700">
            <a:solidFill>
              <a:srgbClr val="00A8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0A8A0"/>
          </a:solidFill>
          <a:ln w="12700">
            <a:solidFill>
              <a:srgbClr val="00A8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Dataset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20040" y="932688"/>
            <a:ext cx="2606040" cy="1005840"/>
          </a:xfrm>
          <a:prstGeom prst="rect">
            <a:avLst/>
          </a:prstGeom>
          <a:solidFill>
            <a:srgbClr val="0F2828"/>
          </a:solidFill>
          <a:ln w="12700">
            <a:solidFill>
              <a:srgbClr val="1E4A47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411480" y="896112"/>
            <a:ext cx="2606040" cy="54864"/>
          </a:xfrm>
          <a:prstGeom prst="rect">
            <a:avLst/>
          </a:prstGeom>
          <a:solidFill>
            <a:srgbClr val="00A8A0"/>
          </a:solidFill>
          <a:ln w="12700">
            <a:solidFill>
              <a:srgbClr val="00A8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411480" y="960120"/>
            <a:ext cx="2606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411480" y="1508760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AA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896112"/>
            <a:ext cx="2606040" cy="1005840"/>
          </a:xfrm>
          <a:prstGeom prst="rect">
            <a:avLst/>
          </a:prstGeom>
          <a:solidFill>
            <a:srgbClr val="0F2828"/>
          </a:solidFill>
          <a:ln w="12700">
            <a:solidFill>
              <a:srgbClr val="1E4A47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3246120" y="896112"/>
            <a:ext cx="2606040" cy="54864"/>
          </a:xfrm>
          <a:prstGeom prst="rect">
            <a:avLst/>
          </a:prstGeom>
          <a:solidFill>
            <a:srgbClr val="00A8A0"/>
          </a:solidFill>
          <a:ln w="12700">
            <a:solidFill>
              <a:srgbClr val="00A8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3246120" y="960120"/>
            <a:ext cx="2606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400+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246120" y="1508760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AA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80760" y="896112"/>
            <a:ext cx="2606040" cy="1005840"/>
          </a:xfrm>
          <a:prstGeom prst="rect">
            <a:avLst/>
          </a:prstGeom>
          <a:solidFill>
            <a:srgbClr val="0F2828"/>
          </a:solidFill>
          <a:ln w="12700">
            <a:solidFill>
              <a:srgbClr val="1E4A47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6080760" y="896112"/>
            <a:ext cx="2606040" cy="54864"/>
          </a:xfrm>
          <a:prstGeom prst="rect">
            <a:avLst/>
          </a:prstGeom>
          <a:solidFill>
            <a:srgbClr val="00A8A0"/>
          </a:solidFill>
          <a:ln w="12700">
            <a:solidFill>
              <a:srgbClr val="00A8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6080760" y="960120"/>
            <a:ext cx="2606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6080760" y="1508760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AA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files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2029968"/>
            <a:ext cx="4023360" cy="2697480"/>
          </a:xfrm>
          <a:prstGeom prst="rect">
            <a:avLst/>
          </a:prstGeom>
          <a:solidFill>
            <a:srgbClr val="0F2828"/>
          </a:solidFill>
          <a:ln w="12700">
            <a:solidFill>
              <a:srgbClr val="1E4A47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320040" y="2029968"/>
            <a:ext cx="4023360" cy="54864"/>
          </a:xfrm>
          <a:prstGeom prst="rect">
            <a:avLst/>
          </a:prstGeom>
          <a:solidFill>
            <a:srgbClr val="00A8A0"/>
          </a:solidFill>
          <a:ln w="12700">
            <a:solidFill>
              <a:srgbClr val="00A8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320040" y="2084832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SMURFING PATTERN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542032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0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SOURCE accounts send large sums (8k–25k€)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306324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0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HUB accounts receive &amp; fragment the money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3584448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0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MULE accounts receive many payments &lt; 950€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4105656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0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Always below the €1,000 detection threshold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800600" y="2029968"/>
            <a:ext cx="4023360" cy="2697480"/>
          </a:xfrm>
          <a:prstGeom prst="rect">
            <a:avLst/>
          </a:prstGeom>
          <a:solidFill>
            <a:srgbClr val="0F2828"/>
          </a:solidFill>
          <a:ln w="12700">
            <a:solidFill>
              <a:srgbClr val="1E4A47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Shape 23"/>
          <p:cNvSpPr/>
          <p:nvPr/>
        </p:nvSpPr>
        <p:spPr>
          <a:xfrm>
            <a:off x="4800600" y="2029968"/>
            <a:ext cx="4023360" cy="54864"/>
          </a:xfrm>
          <a:prstGeom prst="rect">
            <a:avLst/>
          </a:prstGeom>
          <a:solidFill>
            <a:srgbClr val="00A8A0"/>
          </a:solidFill>
          <a:ln w="12700">
            <a:solidFill>
              <a:srgbClr val="00A8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4800600" y="2084832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DETAILS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892040" y="2578608"/>
            <a:ext cx="64008" cy="292608"/>
          </a:xfrm>
          <a:prstGeom prst="rect">
            <a:avLst/>
          </a:prstGeom>
          <a:solidFill>
            <a:srgbClr val="00A8A0"/>
          </a:solidFill>
          <a:ln w="12700">
            <a:solidFill>
              <a:srgbClr val="00A8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5074920" y="2542032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0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accounts.csv — 30 profiles with KYC level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892040" y="3099816"/>
            <a:ext cx="64008" cy="292608"/>
          </a:xfrm>
          <a:prstGeom prst="rect">
            <a:avLst/>
          </a:prstGeom>
          <a:solidFill>
            <a:srgbClr val="00A8A0"/>
          </a:solidFill>
          <a:ln w="12700">
            <a:solidFill>
              <a:srgbClr val="00A8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5074920" y="3063240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0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transactions.csv — all flows with flags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892040" y="3621024"/>
            <a:ext cx="64008" cy="292608"/>
          </a:xfrm>
          <a:prstGeom prst="rect">
            <a:avLst/>
          </a:prstGeom>
          <a:solidFill>
            <a:srgbClr val="00A8A0"/>
          </a:solidFill>
          <a:ln w="12700">
            <a:solidFill>
              <a:srgbClr val="00A8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30"/>
          <p:cNvSpPr/>
          <p:nvPr/>
        </p:nvSpPr>
        <p:spPr>
          <a:xfrm>
            <a:off x="5074920" y="3584448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0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aml_flags.csv — automated AML alerts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892040" y="4142232"/>
            <a:ext cx="64008" cy="292608"/>
          </a:xfrm>
          <a:prstGeom prst="rect">
            <a:avLst/>
          </a:prstGeom>
          <a:solidFill>
            <a:srgbClr val="00A8A0"/>
          </a:solidFill>
          <a:ln w="12700">
            <a:solidFill>
              <a:srgbClr val="00A8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/>
          <p:nvPr/>
        </p:nvSpPr>
        <p:spPr>
          <a:xfrm>
            <a:off x="5074920" y="4105656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0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in Python · 100% synthetic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35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A8A0"/>
          </a:solidFill>
          <a:ln w="12700">
            <a:solidFill>
              <a:srgbClr val="00A8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0A8A0"/>
          </a:solidFill>
          <a:ln w="12700">
            <a:solidFill>
              <a:srgbClr val="00A8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Network — Graph Visualization</a:t>
            </a:r>
            <a:endParaRPr lang="en-US" sz="3000" dirty="0"/>
          </a:p>
        </p:txBody>
      </p:sp>
      <p:pic>
        <p:nvPicPr>
          <p:cNvPr id="47" name="Image 46">
            <a:extLst>
              <a:ext uri="{FF2B5EF4-FFF2-40B4-BE49-F238E27FC236}">
                <a16:creationId xmlns:a16="http://schemas.microsoft.com/office/drawing/2014/main" id="{4E147A14-2DC7-2093-E616-A0CB693889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1117" y="1124429"/>
            <a:ext cx="4681766" cy="357919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35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A8A0"/>
          </a:solidFill>
          <a:ln w="12700">
            <a:solidFill>
              <a:srgbClr val="00A8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0A8A0"/>
          </a:solidFill>
          <a:ln w="12700">
            <a:solidFill>
              <a:srgbClr val="00A8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320040" y="1159098"/>
            <a:ext cx="64008" cy="402336"/>
          </a:xfrm>
          <a:prstGeom prst="rect">
            <a:avLst/>
          </a:prstGeom>
          <a:solidFill>
            <a:srgbClr val="00A8A0"/>
          </a:solidFill>
          <a:ln w="12700">
            <a:solidFill>
              <a:srgbClr val="00A8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521208" y="1140810"/>
            <a:ext cx="83210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0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guarantees financial integrity and ACID compliance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0040" y="1780890"/>
            <a:ext cx="64008" cy="402336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521208" y="1762602"/>
            <a:ext cx="83210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0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DB reveals hidden fraud networks invisible to SQL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0040" y="2402682"/>
            <a:ext cx="64008" cy="402336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521208" y="2384394"/>
            <a:ext cx="83210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0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Time-Series DB detects velocity anomalies in real time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20040" y="3024474"/>
            <a:ext cx="64008" cy="40233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521208" y="3006186"/>
            <a:ext cx="83210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0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DB addresses the KYC weaknesses sanctioned by BaFin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20040" y="3911139"/>
            <a:ext cx="8503920" cy="804672"/>
          </a:xfrm>
          <a:prstGeom prst="rect">
            <a:avLst/>
          </a:prstGeom>
          <a:solidFill>
            <a:srgbClr val="0F2828"/>
          </a:solidFill>
          <a:ln w="12700">
            <a:solidFill>
              <a:srgbClr val="00A8A0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320040" y="3911139"/>
            <a:ext cx="64008" cy="804672"/>
          </a:xfrm>
          <a:prstGeom prst="rect">
            <a:avLst/>
          </a:prstGeom>
          <a:solidFill>
            <a:srgbClr val="00A8A0"/>
          </a:solidFill>
          <a:ln w="12700">
            <a:solidFill>
              <a:srgbClr val="00A8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521208" y="3956859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0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vision: automate AML detection — given any account, the system analyzes its transaction graph and flags suspicious patterns automatically.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53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3B5309-70B8-A376-5D09-8E469A7CE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23CF8F4-A8AE-01D6-A572-BBB7229EACF3}"/>
              </a:ext>
            </a:extLst>
          </p:cNvPr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A8A0"/>
          </a:solidFill>
          <a:ln w="12700">
            <a:solidFill>
              <a:srgbClr val="00A8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CD220D9-E329-BD09-0C8E-FDD899F79284}"/>
              </a:ext>
            </a:extLst>
          </p:cNvPr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0A8A0"/>
          </a:solidFill>
          <a:ln w="12700">
            <a:solidFill>
              <a:srgbClr val="00A8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6DD4E94-354A-B7CD-F056-770EF1961056}"/>
              </a:ext>
            </a:extLst>
          </p:cNvPr>
          <p:cNvSpPr/>
          <p:nvPr/>
        </p:nvSpPr>
        <p:spPr>
          <a:xfrm>
            <a:off x="457200" y="68580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b="1" kern="0" spc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N26</a:t>
            </a:r>
            <a:endParaRPr lang="en-US" sz="80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0579940-3FFC-F75E-02D4-7B7C2CA9BBC5}"/>
              </a:ext>
            </a:extLst>
          </p:cNvPr>
          <p:cNvSpPr/>
          <p:nvPr/>
        </p:nvSpPr>
        <p:spPr>
          <a:xfrm>
            <a:off x="3474720" y="1920240"/>
            <a:ext cx="2194560" cy="45720"/>
          </a:xfrm>
          <a:prstGeom prst="rect">
            <a:avLst/>
          </a:prstGeom>
          <a:solidFill>
            <a:srgbClr val="00A8A0"/>
          </a:solidFill>
          <a:ln w="12700">
            <a:solidFill>
              <a:srgbClr val="00A8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C0CAE9B-2D08-0F01-33EF-DB1697495638}"/>
              </a:ext>
            </a:extLst>
          </p:cNvPr>
          <p:cNvSpPr/>
          <p:nvPr/>
        </p:nvSpPr>
        <p:spPr>
          <a:xfrm>
            <a:off x="420624" y="40919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AA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1 Finance  ·  Gestion de bases de données </a:t>
            </a:r>
            <a:r>
              <a:rPr lang="en-US" sz="1300" dirty="0" err="1">
                <a:solidFill>
                  <a:srgbClr val="6AA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financières</a:t>
            </a:r>
            <a:r>
              <a:rPr lang="en-US" sz="1300" dirty="0">
                <a:solidFill>
                  <a:srgbClr val="6AA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 Arthur Le Maire – Thomas </a:t>
            </a:r>
            <a:r>
              <a:rPr lang="en-US" sz="1300" dirty="0" err="1">
                <a:solidFill>
                  <a:srgbClr val="6AA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Philippotin</a:t>
            </a:r>
            <a:endParaRPr lang="en-US" sz="13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FDD00288-5BC6-7DC5-619D-2778A196581D}"/>
              </a:ext>
            </a:extLst>
          </p:cNvPr>
          <p:cNvSpPr/>
          <p:nvPr/>
        </p:nvSpPr>
        <p:spPr>
          <a:xfrm>
            <a:off x="4937760" y="4663440"/>
            <a:ext cx="109728" cy="109728"/>
          </a:xfrm>
          <a:prstGeom prst="ellipse">
            <a:avLst/>
          </a:prstGeom>
          <a:solidFill>
            <a:srgbClr val="00A8A0"/>
          </a:solidFill>
          <a:ln w="12700">
            <a:solidFill>
              <a:srgbClr val="00A8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F899BF7A-C04E-9535-52FB-8A7EB238F159}"/>
              </a:ext>
            </a:extLst>
          </p:cNvPr>
          <p:cNvSpPr/>
          <p:nvPr/>
        </p:nvSpPr>
        <p:spPr>
          <a:xfrm>
            <a:off x="4251960" y="4663440"/>
            <a:ext cx="109728" cy="109728"/>
          </a:xfrm>
          <a:prstGeom prst="ellipse">
            <a:avLst/>
          </a:prstGeom>
          <a:solidFill>
            <a:srgbClr val="1E4A47"/>
          </a:solidFill>
          <a:ln w="12700">
            <a:solidFill>
              <a:srgbClr val="1E4A4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76FE111B-F283-A295-317E-FBBD0DC0A5D1}"/>
              </a:ext>
            </a:extLst>
          </p:cNvPr>
          <p:cNvSpPr/>
          <p:nvPr/>
        </p:nvSpPr>
        <p:spPr>
          <a:xfrm>
            <a:off x="4480560" y="4663440"/>
            <a:ext cx="109728" cy="109728"/>
          </a:xfrm>
          <a:prstGeom prst="ellipse">
            <a:avLst/>
          </a:prstGeom>
          <a:solidFill>
            <a:srgbClr val="1E4A47"/>
          </a:solidFill>
          <a:ln w="12700">
            <a:solidFill>
              <a:srgbClr val="1E4A4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7FD74C05-8F63-3C4D-CD1D-FC6C965360E8}"/>
              </a:ext>
            </a:extLst>
          </p:cNvPr>
          <p:cNvSpPr/>
          <p:nvPr/>
        </p:nvSpPr>
        <p:spPr>
          <a:xfrm>
            <a:off x="4709160" y="4663440"/>
            <a:ext cx="109728" cy="109728"/>
          </a:xfrm>
          <a:prstGeom prst="ellipse">
            <a:avLst/>
          </a:prstGeom>
          <a:solidFill>
            <a:srgbClr val="1E4A47"/>
          </a:solidFill>
          <a:ln w="12700">
            <a:solidFill>
              <a:srgbClr val="1E4A4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57698B49-F36D-3E86-564B-C348D891D947}"/>
              </a:ext>
            </a:extLst>
          </p:cNvPr>
          <p:cNvSpPr/>
          <p:nvPr/>
        </p:nvSpPr>
        <p:spPr>
          <a:xfrm>
            <a:off x="4017012" y="4663440"/>
            <a:ext cx="109728" cy="109728"/>
          </a:xfrm>
          <a:prstGeom prst="ellipse">
            <a:avLst/>
          </a:prstGeom>
          <a:solidFill>
            <a:srgbClr val="1E4A47"/>
          </a:solidFill>
          <a:ln w="12700">
            <a:solidFill>
              <a:srgbClr val="1E4A4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6A853BD9-CE91-9B03-C010-F10DC7827C30}"/>
              </a:ext>
            </a:extLst>
          </p:cNvPr>
          <p:cNvSpPr/>
          <p:nvPr/>
        </p:nvSpPr>
        <p:spPr>
          <a:xfrm>
            <a:off x="475488" y="249631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for your attention!</a:t>
            </a:r>
            <a:endParaRPr lang="en-US" sz="3000" dirty="0"/>
          </a:p>
        </p:txBody>
      </p:sp>
      <p:pic>
        <p:nvPicPr>
          <p:cNvPr id="1028" name="Picture 4" descr="Partner | ISEC">
            <a:extLst>
              <a:ext uri="{FF2B5EF4-FFF2-40B4-BE49-F238E27FC236}">
                <a16:creationId xmlns:a16="http://schemas.microsoft.com/office/drawing/2014/main" id="{EE0BA257-9B1B-285A-4A8D-4D5989C306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1114" y="-246159"/>
            <a:ext cx="1982886" cy="12202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258518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338</TotalTime>
  <Words>405</Words>
  <Application>Microsoft Macintosh PowerPoint</Application>
  <PresentationFormat>Affichage à l'écran (16:9)</PresentationFormat>
  <Paragraphs>95</Paragraphs>
  <Slides>9</Slides>
  <Notes>9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N26 — AML Database Architecture</dc:title>
  <dc:subject>PptxGenJS Presentation</dc:subject>
  <dc:creator>PptxGenJS</dc:creator>
  <cp:lastModifiedBy>Arthur Le Maire</cp:lastModifiedBy>
  <cp:revision>12</cp:revision>
  <dcterms:created xsi:type="dcterms:W3CDTF">2026-04-09T19:11:53Z</dcterms:created>
  <dcterms:modified xsi:type="dcterms:W3CDTF">2026-04-10T13:58:43Z</dcterms:modified>
</cp:coreProperties>
</file>