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907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0FE3F-DADB-9894-B38E-C926FACA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7F1EA-B423-6B3A-A51A-0447F0295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B703F-7261-9CF2-BE86-BBBA9A200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2A549-F08D-AD9E-9403-CAF95EC014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02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N26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3474720" y="1920240"/>
            <a:ext cx="2194560" cy="45720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Finance  ·  Gestion de bases de données </a:t>
            </a:r>
            <a:r>
              <a:rPr lang="en-US" sz="1400" dirty="0" err="1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financières</a:t>
            </a:r>
            <a:r>
              <a:rPr lang="en-US" sz="14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Arthur Le Maire – Thomas </a:t>
            </a:r>
            <a:r>
              <a:rPr lang="en-US" sz="1400" dirty="0" err="1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Philippotin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23360" y="4663440"/>
            <a:ext cx="109728" cy="109728"/>
          </a:xfrm>
          <a:prstGeom prst="ellipse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251960" y="4663440"/>
            <a:ext cx="109728" cy="109728"/>
          </a:xfrm>
          <a:prstGeom prst="ellipse">
            <a:avLst/>
          </a:prstGeom>
          <a:solidFill>
            <a:srgbClr val="1E4A47"/>
          </a:solidFill>
          <a:ln w="12700">
            <a:solidFill>
              <a:srgbClr val="1E4A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480560" y="4663440"/>
            <a:ext cx="109728" cy="109728"/>
          </a:xfrm>
          <a:prstGeom prst="ellipse">
            <a:avLst/>
          </a:prstGeom>
          <a:solidFill>
            <a:srgbClr val="1E4A47"/>
          </a:solidFill>
          <a:ln w="12700">
            <a:solidFill>
              <a:srgbClr val="1E4A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09160" y="4663440"/>
            <a:ext cx="109728" cy="109728"/>
          </a:xfrm>
          <a:prstGeom prst="ellipse">
            <a:avLst/>
          </a:prstGeom>
          <a:solidFill>
            <a:srgbClr val="1E4A47"/>
          </a:solidFill>
          <a:ln w="12700">
            <a:solidFill>
              <a:srgbClr val="1E4A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937760" y="4663440"/>
            <a:ext cx="109728" cy="109728"/>
          </a:xfrm>
          <a:prstGeom prst="ellipse">
            <a:avLst/>
          </a:prstGeom>
          <a:solidFill>
            <a:srgbClr val="1E4A47"/>
          </a:solidFill>
          <a:ln w="12700">
            <a:solidFill>
              <a:srgbClr val="1E4A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2606040" cy="118872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2606040" cy="5486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Berlin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896112"/>
            <a:ext cx="2606040" cy="118872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46120" y="896112"/>
            <a:ext cx="2606040" cy="5486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46120" y="96012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46120" y="1600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896112"/>
            <a:ext cx="2606040" cy="118872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80760" y="896112"/>
            <a:ext cx="2606040" cy="5486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080760" y="96012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080760" y="1600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in Europe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" y="2395728"/>
            <a:ext cx="64008" cy="347472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23774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banking license issued by the European Central Bank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" y="3008376"/>
            <a:ext cx="64008" cy="347472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" y="299008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from a simple payment app into a full financial super-app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" y="3621024"/>
            <a:ext cx="64008" cy="347472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4320" y="3602736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values: Simplicity, Transparency and Innovation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" y="4233672"/>
            <a:ext cx="64008" cy="347472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4215384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model: customers onboarded in minutes, fully online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N26?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977640" cy="379476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3977640" cy="429768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3977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Onboards thousands of customers per 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branch, no face-to-face check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334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= attractive for criminals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0954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by BaFin multiple times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3977640" cy="379476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3977640" cy="4297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914400"/>
            <a:ext cx="3977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BAFIN SANCTIONS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48132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account openings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0574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KYC verification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6334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in reporting suspicious activity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20954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in AML controls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Hybrid Architecture?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is multi-dimensional — no single database can cover all of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965960" cy="320040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965960" cy="5486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2090287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593207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integrity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ACID compliance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644767"/>
            <a:ext cx="1051560" cy="347472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77240" y="3644767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417320"/>
            <a:ext cx="1965960" cy="320040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450592" y="1417320"/>
            <a:ext cx="196596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450592" y="2090287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50592" y="2593207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Networks, mules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circular flows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07792" y="3644767"/>
            <a:ext cx="1051560" cy="34747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907792" y="3644767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81144" y="1417320"/>
            <a:ext cx="1965960" cy="320040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581144" y="1417320"/>
            <a:ext cx="196596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81144" y="2090287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81144" y="2593207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anomalies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 scores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38344" y="3644767"/>
            <a:ext cx="1051560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038344" y="3644767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11696" y="1417320"/>
            <a:ext cx="1965960" cy="320040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711696" y="1417320"/>
            <a:ext cx="19659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711696" y="2090287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11696" y="2593207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documents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verification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68896" y="3644767"/>
            <a:ext cx="105156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168896" y="3644767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4-Database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86868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64008" cy="868680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99669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978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389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1155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compliance · Financial integrity · Regulatory reporting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938528"/>
            <a:ext cx="8503920" cy="86868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1938528"/>
            <a:ext cx="64008" cy="8686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200253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1984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Database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1214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mule networks · Circular flows · Hidden account links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944368"/>
            <a:ext cx="8503920" cy="86868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2944368"/>
            <a:ext cx="64008" cy="8686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300837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29900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DB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4015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Behaviour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31272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velocity · Real-time anomaly detection · Risk scores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950208"/>
            <a:ext cx="8503920" cy="86868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3950208"/>
            <a:ext cx="64008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57200" y="401421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97280" y="3995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97280" y="4407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KYC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41330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KYC schema · Identity docs · Duplicate passport detection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2606040" cy="100584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2606040" cy="5486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896112"/>
            <a:ext cx="2606040" cy="100584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46120" y="896112"/>
            <a:ext cx="2606040" cy="5486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46120" y="960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46120" y="1508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896112"/>
            <a:ext cx="2606040" cy="100584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80760" y="896112"/>
            <a:ext cx="2606040" cy="5486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080760" y="960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80760" y="1508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029968"/>
            <a:ext cx="4023360" cy="269748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2029968"/>
            <a:ext cx="4023360" cy="5486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20040" y="20848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SMURFING PATTERN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54203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SOURCE accounts send large sums (8k–25k€)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0632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HUB accounts receive &amp; fragment the money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58444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MULE accounts receive many payments &lt; 950€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10565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Always below the €1,000 detection threshold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029968"/>
            <a:ext cx="4023360" cy="2697480"/>
          </a:xfrm>
          <a:prstGeom prst="rect">
            <a:avLst/>
          </a:prstGeom>
          <a:solidFill>
            <a:srgbClr val="0F2828"/>
          </a:solidFill>
          <a:ln w="12700">
            <a:solidFill>
              <a:srgbClr val="1E4A4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00600" y="2029968"/>
            <a:ext cx="4023360" cy="5486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00600" y="20848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2578608"/>
            <a:ext cx="64008" cy="2926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074920" y="25420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accounts.csv — 30 profiles with KYC level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3099816"/>
            <a:ext cx="64008" cy="2926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074920" y="30632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transactions.csv — all flows with flags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3621024"/>
            <a:ext cx="64008" cy="2926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074920" y="35844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aml_flags.csv — automated AML alerts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4142232"/>
            <a:ext cx="64008" cy="2926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074920" y="41056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 Python · 100% synthetic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Network — Graph Visualization</a:t>
            </a:r>
            <a:endParaRPr lang="en-US" sz="3000" dirty="0"/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4E147A14-2DC7-2093-E616-A0CB69388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17" y="1124429"/>
            <a:ext cx="4681766" cy="35791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159098"/>
            <a:ext cx="64008" cy="402336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21208" y="1140810"/>
            <a:ext cx="8321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guarantees financial integrity and ACID compliance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780890"/>
            <a:ext cx="64008" cy="40233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21208" y="1762602"/>
            <a:ext cx="8321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DB reveals hidden fraud networks invisible to SQL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402682"/>
            <a:ext cx="64008" cy="40233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21208" y="2384394"/>
            <a:ext cx="8321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DB detects velocity anomalies in real 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3024474"/>
            <a:ext cx="64008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21208" y="3006186"/>
            <a:ext cx="8321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DB addresses the KYC weaknesses sanctioned by BaFin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911139"/>
            <a:ext cx="8503920" cy="804672"/>
          </a:xfrm>
          <a:prstGeom prst="rect">
            <a:avLst/>
          </a:prstGeom>
          <a:solidFill>
            <a:srgbClr val="0F2828"/>
          </a:solidFill>
          <a:ln w="12700">
            <a:solidFill>
              <a:srgbClr val="00A8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3911139"/>
            <a:ext cx="64008" cy="804672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21208" y="3956859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vision: automate AML detection — given any account, the system analyzes its transaction graph and flags suspicious patterns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B5309-70B8-A376-5D09-8E469A7CE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3CF8F4-A8AE-01D6-A572-BBB7229EACF3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CD220D9-E329-BD09-0C8E-FDD899F79284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DD4E94-354A-B7CD-F056-770EF1961056}"/>
              </a:ext>
            </a:extLst>
          </p:cNvPr>
          <p:cNvSpPr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N26</a:t>
            </a:r>
            <a:endParaRPr lang="en-US" sz="8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0579940-3FFC-F75E-02D4-7B7C2CA9BBC5}"/>
              </a:ext>
            </a:extLst>
          </p:cNvPr>
          <p:cNvSpPr/>
          <p:nvPr/>
        </p:nvSpPr>
        <p:spPr>
          <a:xfrm>
            <a:off x="3474720" y="1920240"/>
            <a:ext cx="2194560" cy="45720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0CAE9B-2D08-0F01-33EF-DB1697495638}"/>
              </a:ext>
            </a:extLst>
          </p:cNvPr>
          <p:cNvSpPr/>
          <p:nvPr/>
        </p:nvSpPr>
        <p:spPr>
          <a:xfrm>
            <a:off x="420624" y="40919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Finance  ·  Gestion de bases de données </a:t>
            </a:r>
            <a:r>
              <a:rPr lang="en-US" sz="1300" dirty="0" err="1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financières</a:t>
            </a:r>
            <a:r>
              <a:rPr lang="en-US" sz="1300" dirty="0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Arthur Le Maire – Thomas </a:t>
            </a:r>
            <a:r>
              <a:rPr lang="en-US" sz="1300" dirty="0" err="1">
                <a:solidFill>
                  <a:srgbClr val="6AA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Philippotin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DD00288-5BC6-7DC5-619D-2778A196581D}"/>
              </a:ext>
            </a:extLst>
          </p:cNvPr>
          <p:cNvSpPr/>
          <p:nvPr/>
        </p:nvSpPr>
        <p:spPr>
          <a:xfrm>
            <a:off x="4937760" y="4663440"/>
            <a:ext cx="109728" cy="109728"/>
          </a:xfrm>
          <a:prstGeom prst="ellipse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899BF7A-C04E-9535-52FB-8A7EB238F159}"/>
              </a:ext>
            </a:extLst>
          </p:cNvPr>
          <p:cNvSpPr/>
          <p:nvPr/>
        </p:nvSpPr>
        <p:spPr>
          <a:xfrm>
            <a:off x="4251960" y="4663440"/>
            <a:ext cx="109728" cy="109728"/>
          </a:xfrm>
          <a:prstGeom prst="ellipse">
            <a:avLst/>
          </a:prstGeom>
          <a:solidFill>
            <a:srgbClr val="1E4A47"/>
          </a:solidFill>
          <a:ln w="12700">
            <a:solidFill>
              <a:srgbClr val="1E4A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6FE111B-F283-A295-317E-FBBD0DC0A5D1}"/>
              </a:ext>
            </a:extLst>
          </p:cNvPr>
          <p:cNvSpPr/>
          <p:nvPr/>
        </p:nvSpPr>
        <p:spPr>
          <a:xfrm>
            <a:off x="4480560" y="4663440"/>
            <a:ext cx="109728" cy="109728"/>
          </a:xfrm>
          <a:prstGeom prst="ellipse">
            <a:avLst/>
          </a:prstGeom>
          <a:solidFill>
            <a:srgbClr val="1E4A47"/>
          </a:solidFill>
          <a:ln w="12700">
            <a:solidFill>
              <a:srgbClr val="1E4A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FD74C05-8F63-3C4D-CD1D-FC6C965360E8}"/>
              </a:ext>
            </a:extLst>
          </p:cNvPr>
          <p:cNvSpPr/>
          <p:nvPr/>
        </p:nvSpPr>
        <p:spPr>
          <a:xfrm>
            <a:off x="4709160" y="4663440"/>
            <a:ext cx="109728" cy="109728"/>
          </a:xfrm>
          <a:prstGeom prst="ellipse">
            <a:avLst/>
          </a:prstGeom>
          <a:solidFill>
            <a:srgbClr val="1E4A47"/>
          </a:solidFill>
          <a:ln w="12700">
            <a:solidFill>
              <a:srgbClr val="1E4A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7698B49-F36D-3E86-564B-C348D891D947}"/>
              </a:ext>
            </a:extLst>
          </p:cNvPr>
          <p:cNvSpPr/>
          <p:nvPr/>
        </p:nvSpPr>
        <p:spPr>
          <a:xfrm>
            <a:off x="4017012" y="4663440"/>
            <a:ext cx="109728" cy="109728"/>
          </a:xfrm>
          <a:prstGeom prst="ellipse">
            <a:avLst/>
          </a:prstGeom>
          <a:solidFill>
            <a:srgbClr val="1E4A47"/>
          </a:solidFill>
          <a:ln w="12700">
            <a:solidFill>
              <a:srgbClr val="1E4A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A853BD9-CE91-9B03-C010-F10DC7827C30}"/>
              </a:ext>
            </a:extLst>
          </p:cNvPr>
          <p:cNvSpPr/>
          <p:nvPr/>
        </p:nvSpPr>
        <p:spPr>
          <a:xfrm>
            <a:off x="475488" y="24963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225851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405</Words>
  <Application>Microsoft Macintosh PowerPoint</Application>
  <PresentationFormat>Affichage à l'écran (16:9)</PresentationFormat>
  <Paragraphs>95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N26 — AML Database Architecture</dc:title>
  <dc:subject>PptxGenJS Presentation</dc:subject>
  <dc:creator>PptxGenJS</dc:creator>
  <cp:lastModifiedBy>Arthur Le Maire</cp:lastModifiedBy>
  <cp:revision>9</cp:revision>
  <dcterms:created xsi:type="dcterms:W3CDTF">2026-04-09T19:11:53Z</dcterms:created>
  <dcterms:modified xsi:type="dcterms:W3CDTF">2026-04-09T19:29:20Z</dcterms:modified>
</cp:coreProperties>
</file>